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566" r:id="rId2"/>
    <p:sldId id="504" r:id="rId3"/>
    <p:sldId id="564" r:id="rId4"/>
    <p:sldId id="508" r:id="rId5"/>
    <p:sldId id="565" r:id="rId6"/>
    <p:sldId id="509" r:id="rId7"/>
    <p:sldId id="563" r:id="rId8"/>
    <p:sldId id="513" r:id="rId9"/>
    <p:sldId id="512" r:id="rId10"/>
    <p:sldId id="515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842"/>
    <a:srgbClr val="9CB4E0"/>
    <a:srgbClr val="0872C1"/>
    <a:srgbClr val="FEFFFF"/>
    <a:srgbClr val="3FA9F6"/>
    <a:srgbClr val="EC6207"/>
    <a:srgbClr val="FF5F14"/>
    <a:srgbClr val="71AD47"/>
    <a:srgbClr val="5F636A"/>
    <a:srgbClr val="0020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3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673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B80BF-4FF2-4158-8CDB-7FCF0DAA3CDC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0079C-B8B2-4848-A33B-F8265FED5E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813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defTabSz="914400" rtl="1">
              <a:buNone/>
            </a:pPr>
            <a:fld id="{DF61EA0F-A667-4B49-8422-0062BC55E249}" type="slidenum">
              <a:rPr lang="en-US" sz="1200" b="0" i="0">
                <a:latin typeface="Calibri"/>
                <a:ea typeface="+mn-ea"/>
                <a:cs typeface="+mn-cs"/>
              </a:rPr>
              <a:pPr algn="l" defTabSz="914400" rtl="1">
                <a:buNone/>
              </a:pPr>
              <a:t>1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5327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B8FDFA-6264-4540-AE4A-6C0FEF3EA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E8D7F12-773F-4A34-BE64-CBC9AC8BA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10EA262-AF38-4655-BFAC-E8C9C9BCA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6121906-679B-40D3-95E5-BC3AEB0C6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9C08C2A-F0A2-46F8-A5A2-FDDD130B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802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DC74E3-2E80-4C44-ABC5-7FCBAEA0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9B7D59-1A25-4572-BC0C-E318E13D7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5F997FA-0F7F-4040-8BC3-7F79E6F6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0DFD5D8-D9CE-493F-8620-5F6C11752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C6E41A8-5552-40B8-BB21-B4D5D4A2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2317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653620-B1C5-489E-827E-18595BC71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D37786A-C1C5-4320-86D4-A14A6FB4E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AF7AE90-8740-41B6-A1A5-1A484CB0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775D22-0A21-4AB3-A3F2-A840C6D2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FC5E319-89A3-4B92-985B-5F76E312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58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DD4B02-E8B2-42D9-9BF3-95948C34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90F996-13CE-48EF-A635-6A8B6138F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7ECA7EC-EB75-4424-B046-8674B9772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3435913-8F7B-40D5-89A5-A2885BCC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7B38147-B92B-43CD-A4F9-4E937497A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A34A3C7-B961-43DB-BF8E-93EAB27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469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EC8F57-0B10-4313-8A84-85BB4C7A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6C849D2-12B0-4470-9943-CC360569D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A821A27-C494-4B39-9FCC-7696F1A95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1FD65FA-EECA-4B4D-98C8-AF4A3C0E5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4BBE3C0-3025-4C6A-A4C5-7D5A42EEB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32BB2F8-0B9D-409A-8E3E-F0E2DF17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CAF8DBF8-8A34-4F26-AB53-CBE732DC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54A518B3-746F-422A-8756-33C714AD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2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A6D886-3173-4975-A8B6-4E56501A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1F7F30B-D179-470C-9305-418D2E2E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8E203F8-3E81-408E-90AB-2FF895EB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978365D-F653-42A2-872E-49EC5871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5698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A93A713-6BE8-4B6C-A88D-B3A869EC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54300D8-266F-4AF6-A5A8-7CD0DB8A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0E1AEB2-6B75-43D1-9237-3DFBBEBA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2984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DF5D7D-8392-402C-83A0-616ADCEF5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966666C-3B47-40CE-A5FD-DC8B85D1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A5BABD8-528E-480B-B2D0-F2B895527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18A14A4-0EA6-430A-847A-C548EE96F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7F726D0-0088-4DAD-A93A-67789A96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8EB734B-4D89-45A7-97DB-8028075C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683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3837638-5C0C-4E00-8C75-2F73E2D3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581CDEE-2D1C-46E0-B89A-E5D72A1F7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B26482D-1C4A-410E-B846-EE8DF79AF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9F95A9B-910B-4789-A4EC-31C796C07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B8C579A-2248-4DCF-A760-2E6950CDB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BA83D9C-4B9D-4FA0-9D33-F06BB28D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294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3FC18A-1CBC-4278-8879-49D521179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2DA42F0-0A1A-4F93-A57D-8204DE68E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E7C09A5-BB17-4DDC-A492-072AFBB2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72A1E76-CB3D-4BE1-8F46-62C373B6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A2A285-AE3A-45EF-A0CB-FBD3BAFD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326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42DF76C-9D24-4EDC-BB1F-37297DC24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F88BF57-56D1-459F-A148-C718C839F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B39539-6911-4D33-9698-215CF74C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46BF429-31D4-46DF-B795-F8EC7388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561A2D1-E223-40BD-9FDA-9C430535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12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A26FFDD-7CC7-4331-9F77-3D92DE9B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E98C925-C1E8-4C09-90B1-59C7D17CC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3BF3C82-456C-4ED9-AC53-DB61862F8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A815-C163-4A1F-AE2C-000C334FF0C2}" type="datetimeFigureOut">
              <a:rPr lang="tr-TR" smtClean="0"/>
              <a:t>13.05.2026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FE3963C-CFA1-4112-B3DB-5AC1AD6FC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7DA97B-5E9E-4923-9EC8-C0835345C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4ACB0-F5C4-4EA4-809A-40B49454B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801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8;p1">
            <a:extLst>
              <a:ext uri="{FF2B5EF4-FFF2-40B4-BE49-F238E27FC236}">
                <a16:creationId xmlns:a16="http://schemas.microsoft.com/office/drawing/2014/main" id="{8660CB21-FB4C-ED7D-8434-AC80042D9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6276"/>
          <a:stretch/>
        </p:blipFill>
        <p:spPr>
          <a:xfrm>
            <a:off x="8388659" y="0"/>
            <a:ext cx="381113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59;p1">
            <a:extLst>
              <a:ext uri="{FF2B5EF4-FFF2-40B4-BE49-F238E27FC236}">
                <a16:creationId xmlns:a16="http://schemas.microsoft.com/office/drawing/2014/main" id="{179A8FF2-35AC-AFA6-5F11-EEFCBBB6CC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93" y="0"/>
            <a:ext cx="8380866" cy="6857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60;p1">
            <a:extLst>
              <a:ext uri="{FF2B5EF4-FFF2-40B4-BE49-F238E27FC236}">
                <a16:creationId xmlns:a16="http://schemas.microsoft.com/office/drawing/2014/main" id="{03F1034B-D586-9C8D-F9BC-04A240F9052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078568"/>
            <a:ext cx="12435840" cy="118597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2;p1">
            <a:extLst>
              <a:ext uri="{FF2B5EF4-FFF2-40B4-BE49-F238E27FC236}">
                <a16:creationId xmlns:a16="http://schemas.microsoft.com/office/drawing/2014/main" id="{EC8121AF-BE02-6669-831C-D00616442EAC}"/>
              </a:ext>
            </a:extLst>
          </p:cNvPr>
          <p:cNvSpPr txBox="1"/>
          <p:nvPr/>
        </p:nvSpPr>
        <p:spPr>
          <a:xfrm>
            <a:off x="537377" y="2935349"/>
            <a:ext cx="741166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Accelerator Workshops - AI</a:t>
            </a:r>
            <a:endParaRPr sz="36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162;p1">
            <a:extLst>
              <a:ext uri="{FF2B5EF4-FFF2-40B4-BE49-F238E27FC236}">
                <a16:creationId xmlns:a16="http://schemas.microsoft.com/office/drawing/2014/main" id="{014A7991-C03B-2690-E98F-D4AB4610334E}"/>
              </a:ext>
            </a:extLst>
          </p:cNvPr>
          <p:cNvSpPr txBox="1"/>
          <p:nvPr/>
        </p:nvSpPr>
        <p:spPr>
          <a:xfrm>
            <a:off x="803877" y="3688628"/>
            <a:ext cx="644378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ITU     13.05.20</a:t>
            </a:r>
            <a:r>
              <a:rPr lang="tr-TR" sz="1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8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162;p1">
            <a:extLst>
              <a:ext uri="{FF2B5EF4-FFF2-40B4-BE49-F238E27FC236}">
                <a16:creationId xmlns:a16="http://schemas.microsoft.com/office/drawing/2014/main" id="{A6ED7E19-7CFB-4072-2C36-CA66C8536BB5}"/>
              </a:ext>
            </a:extLst>
          </p:cNvPr>
          <p:cNvSpPr txBox="1"/>
          <p:nvPr/>
        </p:nvSpPr>
        <p:spPr>
          <a:xfrm>
            <a:off x="537377" y="4669254"/>
            <a:ext cx="616138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Egemen Erkan ÖĞÜTÇÜ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Development Manager</a:t>
            </a:r>
            <a:endParaRPr sz="18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E66C8E-3948-0D2C-7B0B-2E1A8EE50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8814" y="3964634"/>
            <a:ext cx="2455718" cy="1964574"/>
          </a:xfrm>
          <a:prstGeom prst="rect">
            <a:avLst/>
          </a:prstGeom>
        </p:spPr>
      </p:pic>
      <p:pic>
        <p:nvPicPr>
          <p:cNvPr id="8" name="Resim 1">
            <a:extLst>
              <a:ext uri="{FF2B5EF4-FFF2-40B4-BE49-F238E27FC236}">
                <a16:creationId xmlns:a16="http://schemas.microsoft.com/office/drawing/2014/main" id="{D3DB8EF9-81DE-3A4C-90DD-525332DDB1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915" y="170591"/>
            <a:ext cx="6277842" cy="134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6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1"/>
          <p:cNvSpPr txBox="1">
            <a:spLocks/>
          </p:cNvSpPr>
          <p:nvPr/>
        </p:nvSpPr>
        <p:spPr>
          <a:xfrm>
            <a:off x="426632" y="18746"/>
            <a:ext cx="10749367" cy="684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Hardware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555D9E-624B-3B1A-C4E6-CB4A0FB5FB16}"/>
              </a:ext>
            </a:extLst>
          </p:cNvPr>
          <p:cNvSpPr/>
          <p:nvPr/>
        </p:nvSpPr>
        <p:spPr>
          <a:xfrm>
            <a:off x="1032910" y="1050469"/>
            <a:ext cx="9623207" cy="4966539"/>
          </a:xfrm>
          <a:prstGeom prst="roundRect">
            <a:avLst/>
          </a:prstGeom>
          <a:solidFill>
            <a:srgbClr val="9CB4E0"/>
          </a:solidFill>
          <a:ln>
            <a:solidFill>
              <a:srgbClr val="7093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746FCE-38D5-5C3E-C834-D08493EF4032}"/>
              </a:ext>
            </a:extLst>
          </p:cNvPr>
          <p:cNvSpPr/>
          <p:nvPr/>
        </p:nvSpPr>
        <p:spPr>
          <a:xfrm>
            <a:off x="1729334" y="2801077"/>
            <a:ext cx="1718102" cy="598925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Acc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LISDE12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2923B5-1608-E438-67CD-ECEC0AB1BCEA}"/>
              </a:ext>
            </a:extLst>
          </p:cNvPr>
          <p:cNvSpPr/>
          <p:nvPr/>
        </p:nvSpPr>
        <p:spPr>
          <a:xfrm>
            <a:off x="1663402" y="4071076"/>
            <a:ext cx="2085516" cy="847763"/>
          </a:xfrm>
          <a:prstGeom prst="roundRect">
            <a:avLst/>
          </a:prstGeom>
          <a:solidFill>
            <a:srgbClr val="002060"/>
          </a:solidFill>
          <a:ln>
            <a:solidFill>
              <a:srgbClr val="0872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</a:rPr>
              <a:t>Debugger              (A-LINK)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224334-DFA2-9BF0-0551-88F6DD8D3BCD}"/>
              </a:ext>
            </a:extLst>
          </p:cNvPr>
          <p:cNvSpPr/>
          <p:nvPr/>
        </p:nvSpPr>
        <p:spPr>
          <a:xfrm>
            <a:off x="1729333" y="1885702"/>
            <a:ext cx="1718102" cy="598925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Temp&amp;Hum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(SHT40)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A5B89D-E3DE-E225-0C2C-65135CCE3DF6}"/>
              </a:ext>
            </a:extLst>
          </p:cNvPr>
          <p:cNvSpPr/>
          <p:nvPr/>
        </p:nvSpPr>
        <p:spPr>
          <a:xfrm>
            <a:off x="4707582" y="1801583"/>
            <a:ext cx="2502935" cy="332558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MCU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US" dirty="0"/>
              <a:t>A34G43ARL2N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8483F6-B3DD-3CB1-6C4B-BB49C10E971E}"/>
              </a:ext>
            </a:extLst>
          </p:cNvPr>
          <p:cNvSpPr/>
          <p:nvPr/>
        </p:nvSpPr>
        <p:spPr>
          <a:xfrm>
            <a:off x="8049441" y="3688059"/>
            <a:ext cx="2132932" cy="101969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Analog Microphone 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US" dirty="0"/>
              <a:t>MP23ABS1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99D4B0-9FD1-C77C-067F-A98C7988959E}"/>
              </a:ext>
            </a:extLst>
          </p:cNvPr>
          <p:cNvSpPr/>
          <p:nvPr/>
        </p:nvSpPr>
        <p:spPr>
          <a:xfrm>
            <a:off x="8049441" y="1923940"/>
            <a:ext cx="2132932" cy="885158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Wifi&amp;B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LE</a:t>
            </a:r>
          </a:p>
          <a:p>
            <a:pPr algn="ctr"/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ESP32-C3-MINI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64CA06-2939-342C-BE1D-3B64B849AAD3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210517" y="4197908"/>
            <a:ext cx="838924" cy="219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A4014FE-0E2A-354E-6D6A-C80E76BE0760}"/>
              </a:ext>
            </a:extLst>
          </p:cNvPr>
          <p:cNvSpPr txBox="1"/>
          <p:nvPr/>
        </p:nvSpPr>
        <p:spPr>
          <a:xfrm>
            <a:off x="7345263" y="3780795"/>
            <a:ext cx="82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ADC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52E6CC9-B0AB-16B7-8F5A-F2D7F20F789F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210517" y="2366519"/>
            <a:ext cx="83892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0490F90-483F-C5E6-2028-385023EC6922}"/>
              </a:ext>
            </a:extLst>
          </p:cNvPr>
          <p:cNvSpPr txBox="1"/>
          <p:nvPr/>
        </p:nvSpPr>
        <p:spPr>
          <a:xfrm>
            <a:off x="7345264" y="1956985"/>
            <a:ext cx="780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UART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0F2F42D-91E9-9631-8C7A-E1EE1B1C36D2}"/>
              </a:ext>
            </a:extLst>
          </p:cNvPr>
          <p:cNvCxnSpPr>
            <a:cxnSpLocks/>
          </p:cNvCxnSpPr>
          <p:nvPr/>
        </p:nvCxnSpPr>
        <p:spPr>
          <a:xfrm>
            <a:off x="4056701" y="2624327"/>
            <a:ext cx="650881" cy="0"/>
          </a:xfrm>
          <a:prstGeom prst="straightConnector1">
            <a:avLst/>
          </a:prstGeom>
          <a:ln w="57150">
            <a:solidFill>
              <a:srgbClr val="0872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0AF9E90-771B-9F83-BA28-D919054E0B40}"/>
              </a:ext>
            </a:extLst>
          </p:cNvPr>
          <p:cNvCxnSpPr>
            <a:cxnSpLocks/>
          </p:cNvCxnSpPr>
          <p:nvPr/>
        </p:nvCxnSpPr>
        <p:spPr>
          <a:xfrm>
            <a:off x="3447435" y="2185164"/>
            <a:ext cx="645934" cy="0"/>
          </a:xfrm>
          <a:prstGeom prst="line">
            <a:avLst/>
          </a:prstGeom>
          <a:ln w="57150">
            <a:solidFill>
              <a:srgbClr val="087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E0E991-36E2-C583-FFC0-9B27AE7FA8D9}"/>
              </a:ext>
            </a:extLst>
          </p:cNvPr>
          <p:cNvCxnSpPr>
            <a:cxnSpLocks/>
          </p:cNvCxnSpPr>
          <p:nvPr/>
        </p:nvCxnSpPr>
        <p:spPr>
          <a:xfrm>
            <a:off x="3447435" y="3075903"/>
            <a:ext cx="645934" cy="0"/>
          </a:xfrm>
          <a:prstGeom prst="line">
            <a:avLst/>
          </a:prstGeom>
          <a:ln w="57150">
            <a:solidFill>
              <a:srgbClr val="087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09174E4-5E6E-1F92-DB37-DEAF56D1BD54}"/>
              </a:ext>
            </a:extLst>
          </p:cNvPr>
          <p:cNvCxnSpPr>
            <a:cxnSpLocks/>
          </p:cNvCxnSpPr>
          <p:nvPr/>
        </p:nvCxnSpPr>
        <p:spPr>
          <a:xfrm>
            <a:off x="4073560" y="2158970"/>
            <a:ext cx="0" cy="488980"/>
          </a:xfrm>
          <a:prstGeom prst="line">
            <a:avLst/>
          </a:prstGeom>
          <a:ln w="57150">
            <a:solidFill>
              <a:srgbClr val="087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F4610F8-75F5-93EC-D94A-499F38E35661}"/>
              </a:ext>
            </a:extLst>
          </p:cNvPr>
          <p:cNvCxnSpPr>
            <a:cxnSpLocks/>
          </p:cNvCxnSpPr>
          <p:nvPr/>
        </p:nvCxnSpPr>
        <p:spPr>
          <a:xfrm>
            <a:off x="4073560" y="2611559"/>
            <a:ext cx="0" cy="488980"/>
          </a:xfrm>
          <a:prstGeom prst="line">
            <a:avLst/>
          </a:prstGeom>
          <a:ln w="57150">
            <a:solidFill>
              <a:srgbClr val="087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D1F97EA-AAE6-0676-942A-2B42B4593640}"/>
              </a:ext>
            </a:extLst>
          </p:cNvPr>
          <p:cNvSpPr txBox="1"/>
          <p:nvPr/>
        </p:nvSpPr>
        <p:spPr>
          <a:xfrm>
            <a:off x="3540945" y="2452074"/>
            <a:ext cx="57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872C1"/>
                </a:solidFill>
              </a:rPr>
              <a:t>I2C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0F7D648-658D-F577-21F6-24CD99ACF613}"/>
              </a:ext>
            </a:extLst>
          </p:cNvPr>
          <p:cNvCxnSpPr>
            <a:cxnSpLocks/>
          </p:cNvCxnSpPr>
          <p:nvPr/>
        </p:nvCxnSpPr>
        <p:spPr>
          <a:xfrm>
            <a:off x="3736122" y="4507555"/>
            <a:ext cx="971460" cy="0"/>
          </a:xfrm>
          <a:prstGeom prst="straightConnector1">
            <a:avLst/>
          </a:prstGeom>
          <a:ln w="57150">
            <a:solidFill>
              <a:srgbClr val="1728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4579907-6BC8-0747-A55F-5CC62D56583F}"/>
              </a:ext>
            </a:extLst>
          </p:cNvPr>
          <p:cNvSpPr txBox="1"/>
          <p:nvPr/>
        </p:nvSpPr>
        <p:spPr>
          <a:xfrm>
            <a:off x="3774055" y="3861224"/>
            <a:ext cx="852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72842"/>
                </a:solidFill>
              </a:rPr>
              <a:t>Serial Wire</a:t>
            </a:r>
          </a:p>
        </p:txBody>
      </p:sp>
      <p:pic>
        <p:nvPicPr>
          <p:cNvPr id="63" name="Google Shape;295;p6">
            <a:extLst>
              <a:ext uri="{FF2B5EF4-FFF2-40B4-BE49-F238E27FC236}">
                <a16:creationId xmlns:a16="http://schemas.microsoft.com/office/drawing/2014/main" id="{E8D5016D-C4B4-0DF4-3425-884343005F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688083"/>
            <a:ext cx="12234032" cy="16991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172;p2">
            <a:extLst>
              <a:ext uri="{FF2B5EF4-FFF2-40B4-BE49-F238E27FC236}">
                <a16:creationId xmlns:a16="http://schemas.microsoft.com/office/drawing/2014/main" id="{5855B306-19BC-E890-C1DC-81DFDE404DCC}"/>
              </a:ext>
            </a:extLst>
          </p:cNvPr>
          <p:cNvSpPr txBox="1"/>
          <p:nvPr/>
        </p:nvSpPr>
        <p:spPr>
          <a:xfrm>
            <a:off x="382950" y="99820"/>
            <a:ext cx="12645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571B9"/>
                </a:solidFill>
                <a:latin typeface="Montserrat"/>
                <a:ea typeface="Montserrat"/>
                <a:cs typeface="Montserrat"/>
                <a:sym typeface="Montserrat"/>
              </a:rPr>
              <a:t>Hardware</a:t>
            </a:r>
            <a:endParaRPr sz="3200" b="1" i="0" u="none" strike="noStrike" cap="none" dirty="0">
              <a:solidFill>
                <a:srgbClr val="1571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FAC94-728C-B858-8BE5-47504C081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780" y="99820"/>
            <a:ext cx="3343017" cy="6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4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 animBg="1"/>
      <p:bldP spid="11" grpId="0" animBg="1"/>
      <p:bldP spid="13" grpId="0" animBg="1"/>
      <p:bldP spid="18" grpId="0" animBg="1"/>
      <p:bldP spid="26" grpId="0"/>
      <p:bldP spid="30" grpId="0"/>
      <p:bldP spid="55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D ContentCentral - Free 3D CAD Models, 2D Drawings, and Supplier Catalogs">
            <a:extLst>
              <a:ext uri="{FF2B5EF4-FFF2-40B4-BE49-F238E27FC236}">
                <a16:creationId xmlns:a16="http://schemas.microsoft.com/office/drawing/2014/main" id="{A1AD3E45-CC80-CE4C-9016-1B7D8F97C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8563" y="1723696"/>
            <a:ext cx="2003449" cy="154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Başlık 1"/>
          <p:cNvSpPr txBox="1">
            <a:spLocks/>
          </p:cNvSpPr>
          <p:nvPr/>
        </p:nvSpPr>
        <p:spPr>
          <a:xfrm>
            <a:off x="426632" y="18746"/>
            <a:ext cx="10749367" cy="684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en-US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STM32U575CGT6</a:t>
            </a:r>
            <a:endParaRPr lang="tr-TR" sz="3500" b="1" dirty="0">
              <a:solidFill>
                <a:prstClr val="white"/>
              </a:solidFill>
              <a:latin typeface="Montserrat-Bold" panose="02000503000000020004" pitchFamily="2" charset="0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41C42C6C-6DB3-B599-05B7-11846F207051}"/>
              </a:ext>
            </a:extLst>
          </p:cNvPr>
          <p:cNvSpPr txBox="1"/>
          <p:nvPr/>
        </p:nvSpPr>
        <p:spPr>
          <a:xfrm>
            <a:off x="770474" y="1183858"/>
            <a:ext cx="96398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High performance with FPU (Floating-Point Unit) Arm Cortex-M4F MCU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The operating frequency is up to 200 MHz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2 Mbyte of Flash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LQFP-64 package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Motor PWM, RNG, Comparator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Montserrat-Regular"/>
            </a:endParaRPr>
          </a:p>
          <a:p>
            <a:r>
              <a:rPr lang="en-US" sz="2400" dirty="0">
                <a:latin typeface="Montserrat-Regular"/>
              </a:rPr>
              <a:t>Operating Voltage: 2.7 V to 5.5 V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Montserrat-Regular"/>
            </a:endParaRPr>
          </a:p>
        </p:txBody>
      </p:sp>
      <p:pic>
        <p:nvPicPr>
          <p:cNvPr id="10" name="Google Shape;295;p6">
            <a:extLst>
              <a:ext uri="{FF2B5EF4-FFF2-40B4-BE49-F238E27FC236}">
                <a16:creationId xmlns:a16="http://schemas.microsoft.com/office/drawing/2014/main" id="{5F101265-02E3-C10E-AC3D-2C443CEA51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88083"/>
            <a:ext cx="12234032" cy="16991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72;p2">
            <a:extLst>
              <a:ext uri="{FF2B5EF4-FFF2-40B4-BE49-F238E27FC236}">
                <a16:creationId xmlns:a16="http://schemas.microsoft.com/office/drawing/2014/main" id="{C33704E6-B7D2-7614-A678-6CDDA12C0C57}"/>
              </a:ext>
            </a:extLst>
          </p:cNvPr>
          <p:cNvSpPr txBox="1"/>
          <p:nvPr/>
        </p:nvSpPr>
        <p:spPr>
          <a:xfrm>
            <a:off x="382950" y="99820"/>
            <a:ext cx="12645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200"/>
            </a:pPr>
            <a:r>
              <a:rPr lang="en-US" sz="3200" b="1" dirty="0">
                <a:solidFill>
                  <a:srgbClr val="1571B9"/>
                </a:solidFill>
                <a:latin typeface="Montserrat"/>
              </a:rPr>
              <a:t>A34G43ARL2N</a:t>
            </a:r>
            <a:endParaRPr sz="3200" b="1" i="0" u="none" strike="noStrike" cap="none" dirty="0">
              <a:solidFill>
                <a:srgbClr val="1571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395E8-268E-3B7B-5F07-C76EDBB53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780" y="99820"/>
            <a:ext cx="3343017" cy="665526"/>
          </a:xfrm>
          <a:prstGeom prst="rect">
            <a:avLst/>
          </a:prstGeom>
        </p:spPr>
      </p:pic>
      <p:pic>
        <p:nvPicPr>
          <p:cNvPr id="1028" name="Picture 4" descr="ABOV">
            <a:extLst>
              <a:ext uri="{FF2B5EF4-FFF2-40B4-BE49-F238E27FC236}">
                <a16:creationId xmlns:a16="http://schemas.microsoft.com/office/drawing/2014/main" id="{7DA468A3-7B39-40F5-E218-727F80AAA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8563" y="4053525"/>
            <a:ext cx="2228065" cy="66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41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0A8536-168D-7DA6-96A4-23E2316EB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3026" y="1710709"/>
            <a:ext cx="2425491" cy="1834201"/>
          </a:xfrm>
          <a:prstGeom prst="rect">
            <a:avLst/>
          </a:prstGeom>
        </p:spPr>
      </p:pic>
      <p:sp>
        <p:nvSpPr>
          <p:cNvPr id="8" name="Başlık 1"/>
          <p:cNvSpPr txBox="1">
            <a:spLocks/>
          </p:cNvSpPr>
          <p:nvPr/>
        </p:nvSpPr>
        <p:spPr>
          <a:xfrm>
            <a:off x="426632" y="18746"/>
            <a:ext cx="10749367" cy="684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ISM330</a:t>
            </a:r>
            <a:r>
              <a:rPr lang="en-US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ISN</a:t>
            </a: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 (Acc + Gyro)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3D1BF5DF-E7D8-E981-AB57-B8E581C9A553}"/>
              </a:ext>
            </a:extLst>
          </p:cNvPr>
          <p:cNvSpPr txBox="1"/>
          <p:nvPr/>
        </p:nvSpPr>
        <p:spPr>
          <a:xfrm>
            <a:off x="749155" y="1221666"/>
            <a:ext cx="99566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Ultra-low-power, high performance, three-axis linear accelerometer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Embedded temperature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Ultra-low-power consumption down to 2uA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Industrial robots, Asset tracking, Anomaly detection and condition monitoring, Event detection in alarms and smart homes, gesture recognition for personal health</a:t>
            </a:r>
          </a:p>
        </p:txBody>
      </p:sp>
      <p:pic>
        <p:nvPicPr>
          <p:cNvPr id="5" name="Google Shape;295;p6">
            <a:extLst>
              <a:ext uri="{FF2B5EF4-FFF2-40B4-BE49-F238E27FC236}">
                <a16:creationId xmlns:a16="http://schemas.microsoft.com/office/drawing/2014/main" id="{EA4B4D8B-C386-5428-AABE-15A7500990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88083"/>
            <a:ext cx="12234032" cy="16991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72;p2">
            <a:extLst>
              <a:ext uri="{FF2B5EF4-FFF2-40B4-BE49-F238E27FC236}">
                <a16:creationId xmlns:a16="http://schemas.microsoft.com/office/drawing/2014/main" id="{F0D227D4-5D04-787F-5218-17E40553D20A}"/>
              </a:ext>
            </a:extLst>
          </p:cNvPr>
          <p:cNvSpPr txBox="1"/>
          <p:nvPr/>
        </p:nvSpPr>
        <p:spPr>
          <a:xfrm>
            <a:off x="382950" y="99820"/>
            <a:ext cx="12645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b="1" dirty="0">
                <a:solidFill>
                  <a:srgbClr val="1571B9"/>
                </a:solidFill>
                <a:latin typeface="Montserrat"/>
              </a:rPr>
              <a:t>LISDE12</a:t>
            </a:r>
            <a:r>
              <a:rPr lang="tr-TR" sz="3200" b="1" dirty="0">
                <a:solidFill>
                  <a:srgbClr val="1571B9"/>
                </a:solidFill>
                <a:latin typeface="Montserrat"/>
              </a:rPr>
              <a:t> (</a:t>
            </a:r>
            <a:r>
              <a:rPr lang="tr-TR" sz="3200" b="1" dirty="0" err="1">
                <a:solidFill>
                  <a:srgbClr val="1571B9"/>
                </a:solidFill>
                <a:latin typeface="Montserrat"/>
              </a:rPr>
              <a:t>Acc</a:t>
            </a:r>
            <a:r>
              <a:rPr lang="tr-TR" sz="3200" b="1" dirty="0">
                <a:solidFill>
                  <a:srgbClr val="1571B9"/>
                </a:solidFill>
                <a:latin typeface="Montserrat"/>
              </a:rPr>
              <a:t>)</a:t>
            </a:r>
            <a:endParaRPr sz="3200" b="1" i="0" u="none" strike="noStrike" cap="none" dirty="0">
              <a:solidFill>
                <a:srgbClr val="1571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38D950-D246-C101-2D81-DCE3A0D41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780" y="99820"/>
            <a:ext cx="3343017" cy="6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0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85C2E9-5970-29BB-515E-379D69749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554" y="1823430"/>
            <a:ext cx="2340610" cy="1792129"/>
          </a:xfrm>
          <a:prstGeom prst="rect">
            <a:avLst/>
          </a:prstGeom>
        </p:spPr>
      </p:pic>
      <p:sp>
        <p:nvSpPr>
          <p:cNvPr id="8" name="Başlık 1"/>
          <p:cNvSpPr txBox="1">
            <a:spLocks/>
          </p:cNvSpPr>
          <p:nvPr/>
        </p:nvSpPr>
        <p:spPr>
          <a:xfrm>
            <a:off x="426632" y="18746"/>
            <a:ext cx="10749367" cy="684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I</a:t>
            </a:r>
            <a:r>
              <a:rPr lang="en-US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MP34DT05</a:t>
            </a: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 (</a:t>
            </a:r>
            <a:r>
              <a:rPr lang="en-US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Digital Mic</a:t>
            </a: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)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3D1BF5DF-E7D8-E981-AB57-B8E581C9A553}"/>
              </a:ext>
            </a:extLst>
          </p:cNvPr>
          <p:cNvSpPr txBox="1"/>
          <p:nvPr/>
        </p:nvSpPr>
        <p:spPr>
          <a:xfrm>
            <a:off x="828176" y="1175668"/>
            <a:ext cx="995661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 performance MEMS audio sensor: Single-ended analog bottom-port microphone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Built with a capacitive sensing element and an IC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 signal-to-noise ratio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Enhanced RF immunity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Vibration monitoring, Audio-activated functions, Predictive maintenance, Anti-theft systems</a:t>
            </a:r>
          </a:p>
        </p:txBody>
      </p:sp>
      <p:pic>
        <p:nvPicPr>
          <p:cNvPr id="12" name="Google Shape;295;p6">
            <a:extLst>
              <a:ext uri="{FF2B5EF4-FFF2-40B4-BE49-F238E27FC236}">
                <a16:creationId xmlns:a16="http://schemas.microsoft.com/office/drawing/2014/main" id="{2CAAAC0B-244B-15D4-2F9F-214EDB3E47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88083"/>
            <a:ext cx="12234032" cy="16991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72;p2">
            <a:extLst>
              <a:ext uri="{FF2B5EF4-FFF2-40B4-BE49-F238E27FC236}">
                <a16:creationId xmlns:a16="http://schemas.microsoft.com/office/drawing/2014/main" id="{A554C58F-7471-E8EE-1DC2-3C4C249730DF}"/>
              </a:ext>
            </a:extLst>
          </p:cNvPr>
          <p:cNvSpPr txBox="1"/>
          <p:nvPr/>
        </p:nvSpPr>
        <p:spPr>
          <a:xfrm>
            <a:off x="382950" y="99820"/>
            <a:ext cx="12645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b="1" dirty="0">
                <a:solidFill>
                  <a:srgbClr val="1571B9"/>
                </a:solidFill>
                <a:latin typeface="Montserrat"/>
              </a:rPr>
              <a:t>MP23ABS1</a:t>
            </a:r>
            <a:r>
              <a:rPr lang="tr-TR" sz="3200" b="1" dirty="0">
                <a:solidFill>
                  <a:srgbClr val="1571B9"/>
                </a:solidFill>
                <a:latin typeface="Montserrat"/>
              </a:rPr>
              <a:t> (</a:t>
            </a:r>
            <a:r>
              <a:rPr lang="en-US" sz="3200" b="1" dirty="0">
                <a:solidFill>
                  <a:srgbClr val="1571B9"/>
                </a:solidFill>
                <a:latin typeface="Montserrat"/>
              </a:rPr>
              <a:t>Analog</a:t>
            </a:r>
            <a:r>
              <a:rPr lang="tr-TR" sz="3200" b="1" dirty="0">
                <a:solidFill>
                  <a:srgbClr val="1571B9"/>
                </a:solidFill>
                <a:latin typeface="Montserrat"/>
              </a:rPr>
              <a:t> Mic)</a:t>
            </a:r>
            <a:endParaRPr lang="tr-TR" sz="3200" b="1" i="0" u="none" strike="noStrike" cap="none" dirty="0">
              <a:solidFill>
                <a:srgbClr val="1571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A546DF-0718-A656-AD36-DFA07D3A1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780" y="99820"/>
            <a:ext cx="3343017" cy="6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3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1"/>
          <p:cNvSpPr txBox="1">
            <a:spLocks/>
          </p:cNvSpPr>
          <p:nvPr/>
        </p:nvSpPr>
        <p:spPr>
          <a:xfrm>
            <a:off x="426632" y="18746"/>
            <a:ext cx="10749367" cy="684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SHT40 (</a:t>
            </a:r>
            <a:r>
              <a:rPr lang="tr-TR" sz="3500" b="1" dirty="0" err="1">
                <a:solidFill>
                  <a:prstClr val="white"/>
                </a:solidFill>
                <a:latin typeface="Montserrat-Bold" panose="02000503000000020004" pitchFamily="2" charset="0"/>
              </a:rPr>
              <a:t>Temp</a:t>
            </a: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 + Hum)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AEC8D8B4-0F6A-1D0A-B20B-61196B36F626}"/>
              </a:ext>
            </a:extLst>
          </p:cNvPr>
          <p:cNvSpPr txBox="1"/>
          <p:nvPr/>
        </p:nvSpPr>
        <p:spPr>
          <a:xfrm>
            <a:off x="764563" y="1697324"/>
            <a:ext cx="90211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4 </a:t>
            </a:r>
            <a:r>
              <a:rPr lang="en-US" sz="2400" dirty="0" err="1">
                <a:latin typeface="Montserrat-Regular"/>
              </a:rPr>
              <a:t>th</a:t>
            </a:r>
            <a:r>
              <a:rPr lang="en-US" sz="2400" dirty="0">
                <a:latin typeface="Montserrat-Regular"/>
              </a:rPr>
              <a:t> Generation, High-Accuracy, Ultra-Low-Power, 16-bit Relative Humidity and Temperature Sensor</a:t>
            </a: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I2C Interface with communication speeds up to 1 MHz</a:t>
            </a: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Very fast start-up and measurement time</a:t>
            </a: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Typical accuracy of ±</a:t>
            </a:r>
            <a:r>
              <a:rPr lang="tr-TR" sz="2400" dirty="0">
                <a:latin typeface="Montserrat-Regular"/>
              </a:rPr>
              <a:t>1.8</a:t>
            </a:r>
            <a:r>
              <a:rPr lang="en-US" sz="2400" dirty="0">
                <a:latin typeface="Montserrat-Regular"/>
              </a:rPr>
              <a:t> %RH and ±0.</a:t>
            </a:r>
            <a:r>
              <a:rPr lang="tr-TR" sz="2400" dirty="0">
                <a:latin typeface="Montserrat-Regular"/>
              </a:rPr>
              <a:t>2</a:t>
            </a:r>
            <a:r>
              <a:rPr lang="en-US" sz="2400" dirty="0">
                <a:latin typeface="Montserrat-Regular"/>
              </a:rPr>
              <a:t> °C</a:t>
            </a: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Montserrat-Regular"/>
              </a:rPr>
              <a:t>1.5</a:t>
            </a:r>
            <a:r>
              <a:rPr lang="en-US" sz="2400" dirty="0">
                <a:latin typeface="Montserrat-Regular"/>
              </a:rPr>
              <a:t> x </a:t>
            </a:r>
            <a:r>
              <a:rPr lang="tr-TR" sz="2400" dirty="0">
                <a:latin typeface="Montserrat-Regular"/>
              </a:rPr>
              <a:t>1.5 mm DFN-4 </a:t>
            </a:r>
            <a:r>
              <a:rPr lang="tr-TR" sz="2400" dirty="0" err="1">
                <a:latin typeface="Montserrat-Regular"/>
              </a:rPr>
              <a:t>package</a:t>
            </a: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latin typeface="Montserrat-Regular"/>
            </a:endParaRPr>
          </a:p>
        </p:txBody>
      </p:sp>
      <p:pic>
        <p:nvPicPr>
          <p:cNvPr id="2" name="Picture 2" descr="SHT40-AD1B-R2 Sensirion | Mouser Turkey">
            <a:extLst>
              <a:ext uri="{FF2B5EF4-FFF2-40B4-BE49-F238E27FC236}">
                <a16:creationId xmlns:a16="http://schemas.microsoft.com/office/drawing/2014/main" id="{FAE893C9-65AF-FC18-9C79-11A3B44EB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999" y="3020895"/>
            <a:ext cx="2599438" cy="259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295;p6">
            <a:extLst>
              <a:ext uri="{FF2B5EF4-FFF2-40B4-BE49-F238E27FC236}">
                <a16:creationId xmlns:a16="http://schemas.microsoft.com/office/drawing/2014/main" id="{36DD8E5A-C560-5380-9741-8D6307CC3D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88083"/>
            <a:ext cx="12234032" cy="16991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2;p2">
            <a:extLst>
              <a:ext uri="{FF2B5EF4-FFF2-40B4-BE49-F238E27FC236}">
                <a16:creationId xmlns:a16="http://schemas.microsoft.com/office/drawing/2014/main" id="{BB8647EB-F60A-8F2F-7B8A-1B688DAE8DFA}"/>
              </a:ext>
            </a:extLst>
          </p:cNvPr>
          <p:cNvSpPr txBox="1"/>
          <p:nvPr/>
        </p:nvSpPr>
        <p:spPr>
          <a:xfrm>
            <a:off x="382950" y="99820"/>
            <a:ext cx="12645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tr-TR" sz="3200" b="1" dirty="0">
                <a:solidFill>
                  <a:srgbClr val="1571B9"/>
                </a:solidFill>
                <a:latin typeface="Montserrat"/>
              </a:rPr>
              <a:t>SHT40 (Temp + Hum)</a:t>
            </a:r>
            <a:endParaRPr lang="tr-TR" sz="3200" b="1" i="0" u="none" strike="noStrike" cap="none" dirty="0">
              <a:solidFill>
                <a:srgbClr val="1571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77932-365B-9018-EACA-D8F382834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780" y="99820"/>
            <a:ext cx="3343017" cy="6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7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1"/>
          <p:cNvSpPr txBox="1">
            <a:spLocks/>
          </p:cNvSpPr>
          <p:nvPr/>
        </p:nvSpPr>
        <p:spPr>
          <a:xfrm>
            <a:off x="426632" y="18746"/>
            <a:ext cx="10749367" cy="684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ESP32-C3-MINI</a:t>
            </a: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 (Wifi</a:t>
            </a:r>
            <a:r>
              <a:rPr lang="en-US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&amp;BLE</a:t>
            </a: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 Module)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3500" b="1" dirty="0">
              <a:solidFill>
                <a:prstClr val="white"/>
              </a:solidFill>
              <a:latin typeface="Montserrat-Bold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064241-F89D-04D0-F33F-11DEF213E45D}"/>
              </a:ext>
            </a:extLst>
          </p:cNvPr>
          <p:cNvSpPr txBox="1"/>
          <p:nvPr/>
        </p:nvSpPr>
        <p:spPr>
          <a:xfrm>
            <a:off x="781929" y="1167052"/>
            <a:ext cx="1062344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32-bit RISC-V single-core processor, up to 160 MHz</a:t>
            </a: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4 MB embedded flash </a:t>
            </a: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Supports 20 MHz, 40 MHz bandwidth in 2.4 GHz band</a:t>
            </a: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Bluetooth LE: Bluetooth 5, Bluetooth mesh</a:t>
            </a:r>
            <a:endParaRPr lang="tr-TR" sz="2400" dirty="0">
              <a:latin typeface="Montserrat-Regular"/>
            </a:endParaRPr>
          </a:p>
          <a:p>
            <a:r>
              <a:rPr lang="tr-TR" sz="2400" dirty="0">
                <a:latin typeface="Montserrat-Regular"/>
              </a:rPr>
              <a:t>    </a:t>
            </a:r>
            <a:r>
              <a:rPr lang="en-US" sz="2400" dirty="0">
                <a:latin typeface="Montserrat-Regular"/>
              </a:rPr>
              <a:t>Speed: 125 Kbps, 500 Kbps, 1 Mbps, 2 Mbps</a:t>
            </a: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latin typeface="Montserrat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-Regular"/>
              </a:rPr>
              <a:t>GPIO, SPI, UART, I2C, I2S, remote control peripheral, LED PWM controller,</a:t>
            </a:r>
            <a:r>
              <a:rPr lang="tr-TR" sz="2400" dirty="0">
                <a:latin typeface="Montserrat-Regular"/>
              </a:rPr>
              <a:t> </a:t>
            </a:r>
            <a:r>
              <a:rPr lang="en-US" sz="2400" dirty="0">
                <a:latin typeface="Montserrat-Regular"/>
              </a:rPr>
              <a:t>general DMA controller</a:t>
            </a:r>
            <a:r>
              <a:rPr lang="tr-TR" sz="2400" dirty="0">
                <a:latin typeface="Montserrat-Regular"/>
              </a:rPr>
              <a:t>,</a:t>
            </a:r>
            <a:r>
              <a:rPr lang="en-US" sz="2400" dirty="0">
                <a:latin typeface="Montserrat-Regular"/>
              </a:rPr>
              <a:t>USB Serial/JTAG controller, temperature sensor, SAR ADC,</a:t>
            </a:r>
            <a:r>
              <a:rPr lang="tr-TR" sz="2400" dirty="0">
                <a:latin typeface="Montserrat-Regular"/>
              </a:rPr>
              <a:t> </a:t>
            </a:r>
            <a:r>
              <a:rPr lang="en-US" sz="2400" dirty="0">
                <a:latin typeface="Montserrat-Regular"/>
              </a:rPr>
              <a:t>general-purpose timers, watchdog timers</a:t>
            </a:r>
          </a:p>
        </p:txBody>
      </p:sp>
      <p:pic>
        <p:nvPicPr>
          <p:cNvPr id="5" name="Picture 12" descr="ESP32-C3-MINI-1-N4 | ESPRESSIF Wi-Fi Module 802.11b/g/n,">
            <a:extLst>
              <a:ext uri="{FF2B5EF4-FFF2-40B4-BE49-F238E27FC236}">
                <a16:creationId xmlns:a16="http://schemas.microsoft.com/office/drawing/2014/main" id="{E2CA2EF8-0C36-E3EF-F6DF-46350A4BD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789" y="1052071"/>
            <a:ext cx="2961068" cy="296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oogle Shape;295;p6">
            <a:extLst>
              <a:ext uri="{FF2B5EF4-FFF2-40B4-BE49-F238E27FC236}">
                <a16:creationId xmlns:a16="http://schemas.microsoft.com/office/drawing/2014/main" id="{82871B82-C50C-F6AA-C0A7-CBB021A1E7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88083"/>
            <a:ext cx="12234032" cy="16991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2;p2">
            <a:extLst>
              <a:ext uri="{FF2B5EF4-FFF2-40B4-BE49-F238E27FC236}">
                <a16:creationId xmlns:a16="http://schemas.microsoft.com/office/drawing/2014/main" id="{3F216969-1C13-7C33-E548-E62A1088D541}"/>
              </a:ext>
            </a:extLst>
          </p:cNvPr>
          <p:cNvSpPr txBox="1"/>
          <p:nvPr/>
        </p:nvSpPr>
        <p:spPr>
          <a:xfrm>
            <a:off x="382950" y="99820"/>
            <a:ext cx="12645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b="1" dirty="0">
                <a:solidFill>
                  <a:srgbClr val="1571B9"/>
                </a:solidFill>
                <a:latin typeface="Montserrat"/>
              </a:rPr>
              <a:t>ESP32-C3-MINI</a:t>
            </a:r>
            <a:r>
              <a:rPr lang="tr-TR" sz="3200" b="1" dirty="0">
                <a:solidFill>
                  <a:srgbClr val="1571B9"/>
                </a:solidFill>
                <a:latin typeface="Montserrat"/>
              </a:rPr>
              <a:t> (Wifi</a:t>
            </a:r>
            <a:r>
              <a:rPr lang="en-US" sz="3200" b="1" dirty="0">
                <a:solidFill>
                  <a:srgbClr val="1571B9"/>
                </a:solidFill>
                <a:latin typeface="Montserrat"/>
              </a:rPr>
              <a:t>&amp;BLE</a:t>
            </a:r>
            <a:r>
              <a:rPr lang="tr-TR" sz="3200" b="1" dirty="0">
                <a:solidFill>
                  <a:srgbClr val="1571B9"/>
                </a:solidFill>
                <a:latin typeface="Montserrat"/>
              </a:rPr>
              <a:t> Module)</a:t>
            </a:r>
            <a:endParaRPr lang="tr-TR" sz="3200" b="1" i="0" u="none" strike="noStrike" cap="none" dirty="0">
              <a:solidFill>
                <a:srgbClr val="1571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89B9AA-5EB3-023D-C537-C9C5F6246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780" y="99820"/>
            <a:ext cx="3343017" cy="6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1"/>
          <p:cNvSpPr txBox="1">
            <a:spLocks/>
          </p:cNvSpPr>
          <p:nvPr/>
        </p:nvSpPr>
        <p:spPr>
          <a:xfrm>
            <a:off x="426632" y="18746"/>
            <a:ext cx="10749367" cy="684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3500" b="1" dirty="0">
                <a:solidFill>
                  <a:prstClr val="white"/>
                </a:solidFill>
                <a:latin typeface="Montserrat-Bold" panose="02000503000000020004" pitchFamily="2" charset="0"/>
              </a:rPr>
              <a:t>Software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2B04D-9AF5-9563-B336-65F55FB763B5}"/>
              </a:ext>
            </a:extLst>
          </p:cNvPr>
          <p:cNvSpPr txBox="1"/>
          <p:nvPr/>
        </p:nvSpPr>
        <p:spPr>
          <a:xfrm>
            <a:off x="2578611" y="5831995"/>
            <a:ext cx="1594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Montserrat-Regular"/>
              </a:rPr>
              <a:t>For MCU part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6E1754-B60F-2DEC-80BD-E4DA3759827D}"/>
              </a:ext>
            </a:extLst>
          </p:cNvPr>
          <p:cNvSpPr txBox="1"/>
          <p:nvPr/>
        </p:nvSpPr>
        <p:spPr>
          <a:xfrm>
            <a:off x="9198576" y="5831995"/>
            <a:ext cx="1711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Montserrat-Regular"/>
              </a:rPr>
              <a:t>For AI/ML part</a:t>
            </a:r>
          </a:p>
        </p:txBody>
      </p:sp>
      <p:pic>
        <p:nvPicPr>
          <p:cNvPr id="11" name="Google Shape;295;p6">
            <a:extLst>
              <a:ext uri="{FF2B5EF4-FFF2-40B4-BE49-F238E27FC236}">
                <a16:creationId xmlns:a16="http://schemas.microsoft.com/office/drawing/2014/main" id="{76C9E1BD-3CDD-A2D1-E369-63C65ADAAB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688083"/>
            <a:ext cx="12234032" cy="16991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72;p2">
            <a:extLst>
              <a:ext uri="{FF2B5EF4-FFF2-40B4-BE49-F238E27FC236}">
                <a16:creationId xmlns:a16="http://schemas.microsoft.com/office/drawing/2014/main" id="{6C1C76AD-56DB-4D7B-A542-91BBD8BB142D}"/>
              </a:ext>
            </a:extLst>
          </p:cNvPr>
          <p:cNvSpPr txBox="1"/>
          <p:nvPr/>
        </p:nvSpPr>
        <p:spPr>
          <a:xfrm>
            <a:off x="417835" y="125023"/>
            <a:ext cx="12645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tr-TR" sz="3200" b="1" dirty="0">
                <a:solidFill>
                  <a:srgbClr val="1571B9"/>
                </a:solidFill>
                <a:latin typeface="Montserrat"/>
              </a:rPr>
              <a:t>Software</a:t>
            </a:r>
            <a:endParaRPr lang="tr-TR" sz="3200" b="1" i="0" u="none" strike="noStrike" cap="none" dirty="0">
              <a:solidFill>
                <a:srgbClr val="1571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3CF038-9781-D34F-D44A-230977A62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780" y="99820"/>
            <a:ext cx="3343017" cy="665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842E72-395D-E44B-1192-08E9B2FA3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705" y="2629459"/>
            <a:ext cx="3808092" cy="12141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D00777-880E-A9E5-650B-E057AD96A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69" y="915326"/>
            <a:ext cx="6745278" cy="3228545"/>
          </a:xfrm>
          <a:prstGeom prst="rect">
            <a:avLst/>
          </a:prstGeom>
        </p:spPr>
      </p:pic>
      <p:pic>
        <p:nvPicPr>
          <p:cNvPr id="2050" name="Picture 2" descr="Visual Studio Code - Download and install on Windows | Microsoft Store">
            <a:extLst>
              <a:ext uri="{FF2B5EF4-FFF2-40B4-BE49-F238E27FC236}">
                <a16:creationId xmlns:a16="http://schemas.microsoft.com/office/drawing/2014/main" id="{240795F0-63B5-5E83-0C7A-F5A403A07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611" y="4423836"/>
            <a:ext cx="900745" cy="90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sing Keil μVision 5 with Processor Expert | MCU on Eclipse">
            <a:extLst>
              <a:ext uri="{FF2B5EF4-FFF2-40B4-BE49-F238E27FC236}">
                <a16:creationId xmlns:a16="http://schemas.microsoft.com/office/drawing/2014/main" id="{26383F2E-7832-3A40-C57F-E6ABA8091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453" y="4423836"/>
            <a:ext cx="1943651" cy="9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1"/>
          <p:cNvSpPr txBox="1">
            <a:spLocks/>
          </p:cNvSpPr>
          <p:nvPr/>
        </p:nvSpPr>
        <p:spPr>
          <a:xfrm>
            <a:off x="426632" y="18746"/>
            <a:ext cx="10749367" cy="684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3500" b="1" dirty="0">
              <a:solidFill>
                <a:prstClr val="white"/>
              </a:solidFill>
              <a:latin typeface="Montserrat-Bold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96FE34-94A9-6FA3-08C0-A2F9F7551C18}"/>
              </a:ext>
            </a:extLst>
          </p:cNvPr>
          <p:cNvSpPr txBox="1"/>
          <p:nvPr/>
        </p:nvSpPr>
        <p:spPr>
          <a:xfrm>
            <a:off x="544774" y="1018701"/>
            <a:ext cx="3196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latin typeface="Montserrat-Regular"/>
              </a:rPr>
              <a:t>1.  Collecti</a:t>
            </a:r>
            <a:r>
              <a:rPr lang="en-US" sz="2000" dirty="0">
                <a:latin typeface="Montserrat-Regular"/>
              </a:rPr>
              <a:t>ng</a:t>
            </a:r>
            <a:r>
              <a:rPr lang="tr-TR" sz="2000" dirty="0">
                <a:latin typeface="Montserrat-Regular"/>
              </a:rPr>
              <a:t> </a:t>
            </a:r>
            <a:r>
              <a:rPr lang="en-US" sz="2000" dirty="0">
                <a:latin typeface="Montserrat-Regular"/>
              </a:rPr>
              <a:t>the </a:t>
            </a:r>
            <a:r>
              <a:rPr lang="tr-TR" sz="2000" dirty="0">
                <a:latin typeface="Montserrat-Regular"/>
              </a:rPr>
              <a:t>sensor data</a:t>
            </a:r>
            <a:endParaRPr lang="en-US" sz="2000" dirty="0">
              <a:latin typeface="Montserrat-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2A1CE-CBBA-AA5B-A744-98D5AD222ADA}"/>
              </a:ext>
            </a:extLst>
          </p:cNvPr>
          <p:cNvSpPr txBox="1"/>
          <p:nvPr/>
        </p:nvSpPr>
        <p:spPr>
          <a:xfrm>
            <a:off x="544774" y="2017925"/>
            <a:ext cx="7410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latin typeface="Montserrat-Regular"/>
              </a:rPr>
              <a:t>2. </a:t>
            </a:r>
            <a:r>
              <a:rPr lang="en-US" sz="2000" dirty="0">
                <a:latin typeface="Montserrat-Regular"/>
              </a:rPr>
              <a:t>Controlling the sensor data using wi-fi module via MQTT protocol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E3E35C-D3EF-DB59-03EE-E1F3C2EB4959}"/>
              </a:ext>
            </a:extLst>
          </p:cNvPr>
          <p:cNvSpPr txBox="1"/>
          <p:nvPr/>
        </p:nvSpPr>
        <p:spPr>
          <a:xfrm>
            <a:off x="544774" y="3017149"/>
            <a:ext cx="6521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latin typeface="Montserrat-Regular"/>
              </a:rPr>
              <a:t>3. </a:t>
            </a:r>
            <a:r>
              <a:rPr lang="en-US" sz="2000" dirty="0">
                <a:latin typeface="Montserrat-Regular"/>
              </a:rPr>
              <a:t>Using </a:t>
            </a:r>
            <a:r>
              <a:rPr lang="en-US" sz="2000" dirty="0" err="1">
                <a:latin typeface="Montserrat-Regular"/>
              </a:rPr>
              <a:t>Tiremo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®</a:t>
            </a:r>
            <a:r>
              <a:rPr lang="en-US" sz="2000" dirty="0" err="1">
                <a:latin typeface="Montserrat-Regular"/>
              </a:rPr>
              <a:t>Intelligence</a:t>
            </a:r>
            <a:r>
              <a:rPr lang="en-US" sz="2000" dirty="0">
                <a:latin typeface="Montserrat-Regular"/>
              </a:rPr>
              <a:t> to create ML models</a:t>
            </a:r>
          </a:p>
        </p:txBody>
      </p:sp>
      <p:pic>
        <p:nvPicPr>
          <p:cNvPr id="4" name="Google Shape;295;p6">
            <a:extLst>
              <a:ext uri="{FF2B5EF4-FFF2-40B4-BE49-F238E27FC236}">
                <a16:creationId xmlns:a16="http://schemas.microsoft.com/office/drawing/2014/main" id="{3C68BA96-6001-2330-6EE6-0C2D99F6B33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688083"/>
            <a:ext cx="12234032" cy="16991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72;p2">
            <a:extLst>
              <a:ext uri="{FF2B5EF4-FFF2-40B4-BE49-F238E27FC236}">
                <a16:creationId xmlns:a16="http://schemas.microsoft.com/office/drawing/2014/main" id="{30172717-2B54-480B-89F6-2EA48BEF2D73}"/>
              </a:ext>
            </a:extLst>
          </p:cNvPr>
          <p:cNvSpPr txBox="1"/>
          <p:nvPr/>
        </p:nvSpPr>
        <p:spPr>
          <a:xfrm>
            <a:off x="417835" y="125023"/>
            <a:ext cx="12645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b="1" dirty="0">
                <a:solidFill>
                  <a:srgbClr val="1571B9"/>
                </a:solidFill>
                <a:latin typeface="Montserrat"/>
              </a:rPr>
              <a:t>Hands-on Steps</a:t>
            </a:r>
            <a:endParaRPr lang="tr-TR" sz="3200" b="1" i="0" u="none" strike="noStrike" cap="none" dirty="0">
              <a:solidFill>
                <a:srgbClr val="1571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EFE83-A67C-2A94-A1AE-D206B17DD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780" y="99820"/>
            <a:ext cx="3343017" cy="6655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3A647D-D23E-0724-47C7-F69C5C862F08}"/>
              </a:ext>
            </a:extLst>
          </p:cNvPr>
          <p:cNvSpPr txBox="1"/>
          <p:nvPr/>
        </p:nvSpPr>
        <p:spPr>
          <a:xfrm>
            <a:off x="544774" y="4016373"/>
            <a:ext cx="6604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ontserrat-Regular"/>
              </a:rPr>
              <a:t>4</a:t>
            </a:r>
            <a:r>
              <a:rPr lang="tr-TR" sz="2000" dirty="0">
                <a:latin typeface="Montserrat-Regular"/>
              </a:rPr>
              <a:t>. </a:t>
            </a:r>
            <a:r>
              <a:rPr lang="en-US" sz="2000" dirty="0">
                <a:latin typeface="Montserrat-Regular"/>
              </a:rPr>
              <a:t>Using </a:t>
            </a:r>
            <a:r>
              <a:rPr lang="en-US" sz="2000" dirty="0" err="1">
                <a:latin typeface="Montserrat-Regular"/>
              </a:rPr>
              <a:t>Tiremo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®</a:t>
            </a:r>
            <a:r>
              <a:rPr lang="en-US" sz="2000" dirty="0" err="1">
                <a:latin typeface="Montserrat-Regular"/>
              </a:rPr>
              <a:t>Intelligence</a:t>
            </a:r>
            <a:r>
              <a:rPr lang="en-US" sz="2000" dirty="0">
                <a:latin typeface="Montserrat-Regular"/>
              </a:rPr>
              <a:t> to deploy ML models</a:t>
            </a:r>
          </a:p>
        </p:txBody>
      </p:sp>
    </p:spTree>
    <p:extLst>
      <p:ext uri="{BB962C8B-B14F-4D97-AF65-F5344CB8AC3E}">
        <p14:creationId xmlns:p14="http://schemas.microsoft.com/office/powerpoint/2010/main" val="244261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296FE34-94A9-6FA3-08C0-A2F9F7551C18}"/>
              </a:ext>
            </a:extLst>
          </p:cNvPr>
          <p:cNvSpPr txBox="1"/>
          <p:nvPr/>
        </p:nvSpPr>
        <p:spPr>
          <a:xfrm>
            <a:off x="2362380" y="2774552"/>
            <a:ext cx="6046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4400" b="1" dirty="0">
                <a:latin typeface="Montserrat-Regular"/>
              </a:rPr>
              <a:t>Time </a:t>
            </a:r>
            <a:r>
              <a:rPr lang="tr-TR" sz="4400" b="1" dirty="0" err="1">
                <a:latin typeface="Montserrat-Regular"/>
              </a:rPr>
              <a:t>for</a:t>
            </a:r>
            <a:r>
              <a:rPr lang="tr-TR" sz="4400" b="1" dirty="0">
                <a:latin typeface="Montserrat-Regular"/>
              </a:rPr>
              <a:t> </a:t>
            </a:r>
            <a:r>
              <a:rPr lang="tr-TR" sz="4400" b="1" dirty="0" err="1">
                <a:latin typeface="Montserrat-Regular"/>
              </a:rPr>
              <a:t>some</a:t>
            </a:r>
            <a:r>
              <a:rPr lang="tr-TR" sz="4400" b="1" dirty="0">
                <a:latin typeface="Montserrat-Regular"/>
              </a:rPr>
              <a:t> </a:t>
            </a:r>
            <a:r>
              <a:rPr lang="tr-TR" sz="4400" b="1" dirty="0" err="1">
                <a:latin typeface="Montserrat-Regular"/>
              </a:rPr>
              <a:t>hands</a:t>
            </a:r>
            <a:r>
              <a:rPr lang="tr-TR" sz="4400" b="1" dirty="0">
                <a:latin typeface="Montserrat-Regular"/>
              </a:rPr>
              <a:t>-on!</a:t>
            </a:r>
            <a:endParaRPr lang="en-US" sz="4400" b="1" dirty="0">
              <a:latin typeface="Montserrat-Regular"/>
            </a:endParaRPr>
          </a:p>
        </p:txBody>
      </p:sp>
      <p:pic>
        <p:nvPicPr>
          <p:cNvPr id="2" name="Google Shape;295;p6">
            <a:extLst>
              <a:ext uri="{FF2B5EF4-FFF2-40B4-BE49-F238E27FC236}">
                <a16:creationId xmlns:a16="http://schemas.microsoft.com/office/drawing/2014/main" id="{C512C80B-0A3F-54E1-8E6B-08A22DD6E91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688083"/>
            <a:ext cx="12234032" cy="16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5A60F8-FB44-B7D3-7486-56FA34C9A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780" y="99820"/>
            <a:ext cx="3343017" cy="6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5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6867</TotalTime>
  <Words>409</Words>
  <Application>Microsoft Office PowerPoint</Application>
  <PresentationFormat>Widescreen</PresentationFormat>
  <Paragraphs>84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Montserrat</vt:lpstr>
      <vt:lpstr>Montserrat-Bold</vt:lpstr>
      <vt:lpstr>Montserrat-Regular</vt:lpstr>
      <vt:lpstr>Office Teması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Volkan AKBIYIK</dc:creator>
  <cp:lastModifiedBy>Egemen Erkan OGUTCU</cp:lastModifiedBy>
  <cp:revision>224</cp:revision>
  <dcterms:created xsi:type="dcterms:W3CDTF">2022-04-14T13:47:13Z</dcterms:created>
  <dcterms:modified xsi:type="dcterms:W3CDTF">2026-05-13T08:46:43Z</dcterms:modified>
</cp:coreProperties>
</file>